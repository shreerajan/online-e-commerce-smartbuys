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Radley" charset="1" panose="00000500000000000000"/>
      <p:regular r:id="rId18"/>
    </p:embeddedFont>
    <p:embeddedFont>
      <p:font typeface="Radley Italics" charset="1" panose="00000500000000000000"/>
      <p:regular r:id="rId19"/>
    </p:embeddedFont>
    <p:embeddedFont>
      <p:font typeface="Carlito" charset="1" panose="020F050202020403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2839705"/>
            <a:ext cx="8324850" cy="6934200"/>
            <a:chOff x="0" y="0"/>
            <a:chExt cx="1289737" cy="1074289"/>
          </a:xfrm>
        </p:grpSpPr>
        <p:sp>
          <p:nvSpPr>
            <p:cNvPr name="Freeform 3" id="3"/>
            <p:cNvSpPr/>
            <p:nvPr/>
          </p:nvSpPr>
          <p:spPr>
            <a:xfrm flipH="false" flipV="false" rot="0">
              <a:off x="0" y="0"/>
              <a:ext cx="1289737" cy="1074289"/>
            </a:xfrm>
            <a:custGeom>
              <a:avLst/>
              <a:gdLst/>
              <a:ahLst/>
              <a:cxnLst/>
              <a:rect r="r" b="b" t="t" l="l"/>
              <a:pathLst>
                <a:path h="1074289" w="1289737">
                  <a:moveTo>
                    <a:pt x="0" y="0"/>
                  </a:moveTo>
                  <a:lnTo>
                    <a:pt x="1289737" y="0"/>
                  </a:lnTo>
                  <a:lnTo>
                    <a:pt x="1289737" y="1074289"/>
                  </a:lnTo>
                  <a:lnTo>
                    <a:pt x="0" y="1074289"/>
                  </a:lnTo>
                  <a:close/>
                </a:path>
              </a:pathLst>
            </a:custGeom>
            <a:blipFill>
              <a:blip r:embed="rId2"/>
              <a:stretch>
                <a:fillRect l="-329" t="0" r="-329" b="0"/>
              </a:stretch>
            </a:blipFill>
          </p:spPr>
        </p:sp>
      </p:grpSp>
      <p:grpSp>
        <p:nvGrpSpPr>
          <p:cNvPr name="Group 4" id="4"/>
          <p:cNvGrpSpPr/>
          <p:nvPr/>
        </p:nvGrpSpPr>
        <p:grpSpPr>
          <a:xfrm rot="0">
            <a:off x="666750" y="666750"/>
            <a:ext cx="16954500" cy="1978019"/>
            <a:chOff x="0" y="0"/>
            <a:chExt cx="22606000" cy="2637358"/>
          </a:xfrm>
        </p:grpSpPr>
        <p:sp>
          <p:nvSpPr>
            <p:cNvPr name="AutoShape 5" id="5"/>
            <p:cNvSpPr/>
            <p:nvPr/>
          </p:nvSpPr>
          <p:spPr>
            <a:xfrm>
              <a:off x="0" y="2624658"/>
              <a:ext cx="22606000" cy="0"/>
            </a:xfrm>
            <a:prstGeom prst="line">
              <a:avLst/>
            </a:prstGeom>
            <a:ln cap="flat" w="25400">
              <a:solidFill>
                <a:srgbClr val="1F2937"/>
              </a:solidFill>
              <a:prstDash val="solid"/>
              <a:headEnd type="none" len="sm" w="sm"/>
              <a:tailEnd type="none" len="sm" w="sm"/>
            </a:ln>
          </p:spPr>
        </p:sp>
        <p:sp>
          <p:nvSpPr>
            <p:cNvPr name="TextBox 6" id="6"/>
            <p:cNvSpPr txBox="true"/>
            <p:nvPr/>
          </p:nvSpPr>
          <p:spPr>
            <a:xfrm rot="0">
              <a:off x="0" y="180975"/>
              <a:ext cx="22606000" cy="1679443"/>
            </a:xfrm>
            <a:prstGeom prst="rect">
              <a:avLst/>
            </a:prstGeom>
          </p:spPr>
          <p:txBody>
            <a:bodyPr anchor="t" rtlCol="false" tIns="0" lIns="0" bIns="0" rIns="0">
              <a:spAutoFit/>
            </a:bodyPr>
            <a:lstStyle/>
            <a:p>
              <a:pPr algn="ctr" marL="0" indent="0" lvl="0">
                <a:lnSpc>
                  <a:spcPts val="9183"/>
                </a:lnSpc>
              </a:pPr>
              <a:r>
                <a:rPr lang="en-US" sz="9183" spc="-183" u="none">
                  <a:solidFill>
                    <a:srgbClr val="1F2937"/>
                  </a:solidFill>
                  <a:latin typeface="Radley"/>
                  <a:ea typeface="Radley"/>
                  <a:cs typeface="Radley"/>
                  <a:sym typeface="Radley"/>
                </a:rPr>
                <a:t>Online E-Commerce Smartbuys</a:t>
              </a:r>
            </a:p>
          </p:txBody>
        </p:sp>
      </p:grpSp>
      <p:sp>
        <p:nvSpPr>
          <p:cNvPr name="TextBox 7" id="7"/>
          <p:cNvSpPr txBox="true"/>
          <p:nvPr/>
        </p:nvSpPr>
        <p:spPr>
          <a:xfrm rot="0">
            <a:off x="666750" y="3037392"/>
            <a:ext cx="7904262" cy="730248"/>
          </a:xfrm>
          <a:prstGeom prst="rect">
            <a:avLst/>
          </a:prstGeom>
        </p:spPr>
        <p:txBody>
          <a:bodyPr anchor="t" rtlCol="false" tIns="0" lIns="0" bIns="0" rIns="0">
            <a:spAutoFit/>
          </a:bodyPr>
          <a:lstStyle/>
          <a:p>
            <a:pPr algn="l" marL="0" indent="0" lvl="0">
              <a:lnSpc>
                <a:spcPts val="5499"/>
              </a:lnSpc>
            </a:pPr>
            <a:r>
              <a:rPr lang="en-US" sz="5499" i="true">
                <a:solidFill>
                  <a:srgbClr val="1F2937"/>
                </a:solidFill>
                <a:latin typeface="Radley Italics"/>
                <a:ea typeface="Radley Italics"/>
                <a:cs typeface="Radley Italics"/>
                <a:sym typeface="Radley Italics"/>
              </a:rPr>
              <a:t>TEAM NAME : The Hivers</a:t>
            </a:r>
          </a:p>
        </p:txBody>
      </p:sp>
      <p:sp>
        <p:nvSpPr>
          <p:cNvPr name="TextBox 8" id="8"/>
          <p:cNvSpPr txBox="true"/>
          <p:nvPr/>
        </p:nvSpPr>
        <p:spPr>
          <a:xfrm rot="0">
            <a:off x="666750" y="4616780"/>
            <a:ext cx="6259913" cy="4157207"/>
          </a:xfrm>
          <a:prstGeom prst="rect">
            <a:avLst/>
          </a:prstGeom>
        </p:spPr>
        <p:txBody>
          <a:bodyPr anchor="t" rtlCol="false" tIns="0" lIns="0" bIns="0" rIns="0">
            <a:spAutoFit/>
          </a:bodyPr>
          <a:lstStyle/>
          <a:p>
            <a:pPr algn="l">
              <a:lnSpc>
                <a:spcPts val="4114"/>
              </a:lnSpc>
            </a:pPr>
            <a:r>
              <a:rPr lang="en-US" sz="4114" i="true">
                <a:solidFill>
                  <a:srgbClr val="1F2937"/>
                </a:solidFill>
                <a:latin typeface="Radley Italics"/>
                <a:ea typeface="Radley Italics"/>
                <a:cs typeface="Radley Italics"/>
                <a:sym typeface="Radley Italics"/>
              </a:rPr>
              <a:t>TEAM MEMBERS:-</a:t>
            </a:r>
          </a:p>
          <a:p>
            <a:pPr algn="l">
              <a:lnSpc>
                <a:spcPts val="4114"/>
              </a:lnSpc>
            </a:pPr>
          </a:p>
          <a:p>
            <a:pPr algn="l">
              <a:lnSpc>
                <a:spcPts val="4114"/>
              </a:lnSpc>
            </a:pPr>
            <a:r>
              <a:rPr lang="en-US" sz="4114" i="true">
                <a:solidFill>
                  <a:srgbClr val="1F2937"/>
                </a:solidFill>
                <a:latin typeface="Radley Italics"/>
                <a:ea typeface="Radley Italics"/>
                <a:cs typeface="Radley Italics"/>
                <a:sym typeface="Radley Italics"/>
              </a:rPr>
              <a:t>Shree Rajan(Team Leader)</a:t>
            </a:r>
          </a:p>
          <a:p>
            <a:pPr algn="l">
              <a:lnSpc>
                <a:spcPts val="4114"/>
              </a:lnSpc>
            </a:pPr>
          </a:p>
          <a:p>
            <a:pPr algn="l">
              <a:lnSpc>
                <a:spcPts val="4114"/>
              </a:lnSpc>
            </a:pPr>
            <a:r>
              <a:rPr lang="en-US" sz="4114" i="true">
                <a:solidFill>
                  <a:srgbClr val="1F2937"/>
                </a:solidFill>
                <a:latin typeface="Radley Italics"/>
                <a:ea typeface="Radley Italics"/>
                <a:cs typeface="Radley Italics"/>
                <a:sym typeface="Radley Italics"/>
              </a:rPr>
              <a:t>Suhana Kumari</a:t>
            </a:r>
          </a:p>
          <a:p>
            <a:pPr algn="l">
              <a:lnSpc>
                <a:spcPts val="4114"/>
              </a:lnSpc>
            </a:pPr>
          </a:p>
          <a:p>
            <a:pPr algn="l">
              <a:lnSpc>
                <a:spcPts val="4114"/>
              </a:lnSpc>
            </a:pPr>
            <a:r>
              <a:rPr lang="en-US" sz="4114" i="true">
                <a:solidFill>
                  <a:srgbClr val="1F2937"/>
                </a:solidFill>
                <a:latin typeface="Radley Italics"/>
                <a:ea typeface="Radley Italics"/>
                <a:cs typeface="Radley Italics"/>
                <a:sym typeface="Radley Italics"/>
              </a:rPr>
              <a:t>Aashish Kishor</a:t>
            </a:r>
          </a:p>
          <a:p>
            <a:pPr algn="l" marL="0" indent="0" lvl="0">
              <a:lnSpc>
                <a:spcPts val="4114"/>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531690" y="284084"/>
            <a:ext cx="9481869" cy="7839075"/>
            <a:chOff x="0" y="0"/>
            <a:chExt cx="12642491" cy="10452100"/>
          </a:xfrm>
        </p:grpSpPr>
        <p:sp>
          <p:nvSpPr>
            <p:cNvPr name="TextBox 5" id="5"/>
            <p:cNvSpPr txBox="true"/>
            <p:nvPr/>
          </p:nvSpPr>
          <p:spPr>
            <a:xfrm rot="0">
              <a:off x="34522" y="57150"/>
              <a:ext cx="12607969" cy="26792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1F2937"/>
                  </a:solidFill>
                  <a:latin typeface="Radley Italics"/>
                  <a:ea typeface="Radley Italics"/>
                  <a:cs typeface="Radley Italics"/>
                  <a:sym typeface="Radley Italics"/>
                </a:rPr>
                <a:t>Understanding E-Commerce Platforms</a:t>
              </a:r>
            </a:p>
          </p:txBody>
        </p:sp>
        <p:sp>
          <p:nvSpPr>
            <p:cNvPr name="TextBox 6" id="6"/>
            <p:cNvSpPr txBox="true"/>
            <p:nvPr/>
          </p:nvSpPr>
          <p:spPr>
            <a:xfrm rot="0">
              <a:off x="34522" y="5029200"/>
              <a:ext cx="12607969" cy="13970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1F2937"/>
                  </a:solidFill>
                  <a:latin typeface="Radley"/>
                  <a:ea typeface="Radley"/>
                  <a:cs typeface="Radley"/>
                  <a:sym typeface="Radley"/>
                </a:rPr>
                <a:t>Exploring the Role of Digital Marketplaces in Modern Shopping</a:t>
              </a:r>
            </a:p>
          </p:txBody>
        </p:sp>
        <p:sp>
          <p:nvSpPr>
            <p:cNvPr name="AutoShape 7" id="7"/>
            <p:cNvSpPr/>
            <p:nvPr/>
          </p:nvSpPr>
          <p:spPr>
            <a:xfrm>
              <a:off x="0" y="4543214"/>
              <a:ext cx="12607969" cy="0"/>
            </a:xfrm>
            <a:prstGeom prst="line">
              <a:avLst/>
            </a:prstGeom>
            <a:ln cap="flat" w="25400">
              <a:solidFill>
                <a:srgbClr val="1F2937"/>
              </a:solidFill>
              <a:prstDash val="solid"/>
              <a:headEnd type="none" len="sm" w="sm"/>
              <a:tailEnd type="none" len="sm" w="sm"/>
            </a:ln>
          </p:spPr>
        </p:sp>
        <p:sp>
          <p:nvSpPr>
            <p:cNvPr name="TextBox 8" id="8"/>
            <p:cNvSpPr txBox="true"/>
            <p:nvPr/>
          </p:nvSpPr>
          <p:spPr>
            <a:xfrm rot="0">
              <a:off x="34522" y="7032625"/>
              <a:ext cx="12573447" cy="3419475"/>
            </a:xfrm>
            <a:prstGeom prst="rect">
              <a:avLst/>
            </a:prstGeom>
          </p:spPr>
          <p:txBody>
            <a:bodyPr anchor="t" rtlCol="false" tIns="0" lIns="0" bIns="0" rIns="0">
              <a:spAutoFit/>
            </a:bodyPr>
            <a:lstStyle/>
            <a:p>
              <a:pPr algn="l" marL="0" indent="0" lvl="0">
                <a:lnSpc>
                  <a:spcPts val="3359"/>
                </a:lnSpc>
              </a:pPr>
              <a:r>
                <a:rPr lang="en-US" sz="2799">
                  <a:solidFill>
                    <a:srgbClr val="1F2937"/>
                  </a:solidFill>
                  <a:latin typeface="Carlito"/>
                  <a:ea typeface="Carlito"/>
                  <a:cs typeface="Carlito"/>
                  <a:sym typeface="Carlito"/>
                </a:rPr>
                <a:t>An e commerce platform is a virtual market which buyers and sellers use to transact business easily. In the large scale growth of digital shopping we see these platforms have become very important as they provide convenience and world wide access. By familiarizing ourselves with how they function we also open up to the large set of opportunities present in the on line market.</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1F2937"/>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543300" y="1562127"/>
            <a:ext cx="11201400" cy="2066938"/>
            <a:chOff x="0" y="0"/>
            <a:chExt cx="14935200" cy="2755917"/>
          </a:xfrm>
        </p:grpSpPr>
        <p:sp>
          <p:nvSpPr>
            <p:cNvPr name="AutoShape 3" id="3"/>
            <p:cNvSpPr/>
            <p:nvPr/>
          </p:nvSpPr>
          <p:spPr>
            <a:xfrm flipH="true">
              <a:off x="4892198" y="1651034"/>
              <a:ext cx="5150805" cy="0"/>
            </a:xfrm>
            <a:prstGeom prst="line">
              <a:avLst/>
            </a:prstGeom>
            <a:ln cap="flat" w="25400">
              <a:solidFill>
                <a:srgbClr val="1F2937"/>
              </a:solidFill>
              <a:prstDash val="solid"/>
              <a:headEnd type="none" len="sm" w="sm"/>
              <a:tailEnd type="none" len="sm" w="sm"/>
            </a:ln>
          </p:spPr>
        </p:sp>
        <p:sp>
          <p:nvSpPr>
            <p:cNvPr name="TextBox 4" id="4"/>
            <p:cNvSpPr txBox="true"/>
            <p:nvPr/>
          </p:nvSpPr>
          <p:spPr>
            <a:xfrm rot="0">
              <a:off x="0" y="57150"/>
              <a:ext cx="14935200" cy="1162050"/>
            </a:xfrm>
            <a:prstGeom prst="rect">
              <a:avLst/>
            </a:prstGeom>
          </p:spPr>
          <p:txBody>
            <a:bodyPr anchor="t" rtlCol="false" tIns="0" lIns="0" bIns="0" rIns="0">
              <a:spAutoFit/>
            </a:bodyPr>
            <a:lstStyle/>
            <a:p>
              <a:pPr algn="ctr" marL="0" indent="0" lvl="0">
                <a:lnSpc>
                  <a:spcPts val="6600"/>
                </a:lnSpc>
              </a:pPr>
              <a:r>
                <a:rPr lang="en-US" sz="6000">
                  <a:solidFill>
                    <a:srgbClr val="1F2937"/>
                  </a:solidFill>
                  <a:latin typeface="Radley"/>
                  <a:ea typeface="Radley"/>
                  <a:cs typeface="Radley"/>
                  <a:sym typeface="Radley"/>
                </a:rPr>
                <a:t>300 million</a:t>
              </a:r>
            </a:p>
          </p:txBody>
        </p:sp>
        <p:sp>
          <p:nvSpPr>
            <p:cNvPr name="TextBox 5" id="5"/>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strike="noStrike" u="none">
                  <a:solidFill>
                    <a:srgbClr val="1F2937"/>
                  </a:solidFill>
                  <a:latin typeface="Radley"/>
                  <a:ea typeface="Radley"/>
                  <a:cs typeface="Radley"/>
                  <a:sym typeface="Radley"/>
                </a:rPr>
                <a:t>Online shoppers worldwide</a:t>
              </a:r>
            </a:p>
          </p:txBody>
        </p:sp>
      </p:grpSp>
      <p:grpSp>
        <p:nvGrpSpPr>
          <p:cNvPr name="Group 6" id="6"/>
          <p:cNvGrpSpPr/>
          <p:nvPr/>
        </p:nvGrpSpPr>
        <p:grpSpPr>
          <a:xfrm rot="0">
            <a:off x="3543300" y="4248238"/>
            <a:ext cx="11201400" cy="2066938"/>
            <a:chOff x="0" y="0"/>
            <a:chExt cx="14935200" cy="2755917"/>
          </a:xfrm>
        </p:grpSpPr>
        <p:sp>
          <p:nvSpPr>
            <p:cNvPr name="AutoShape 7" id="7"/>
            <p:cNvSpPr/>
            <p:nvPr/>
          </p:nvSpPr>
          <p:spPr>
            <a:xfrm flipH="true">
              <a:off x="4892198" y="1651034"/>
              <a:ext cx="5150805" cy="0"/>
            </a:xfrm>
            <a:prstGeom prst="line">
              <a:avLst/>
            </a:prstGeom>
            <a:ln cap="flat" w="25400">
              <a:solidFill>
                <a:srgbClr val="1F2937"/>
              </a:solidFill>
              <a:prstDash val="solid"/>
              <a:headEnd type="none" len="sm" w="sm"/>
              <a:tailEnd type="none" len="sm" w="sm"/>
            </a:ln>
          </p:spPr>
        </p:sp>
        <p:sp>
          <p:nvSpPr>
            <p:cNvPr name="TextBox 8" id="8"/>
            <p:cNvSpPr txBox="true"/>
            <p:nvPr/>
          </p:nvSpPr>
          <p:spPr>
            <a:xfrm rot="0">
              <a:off x="0" y="57150"/>
              <a:ext cx="14935200" cy="1162050"/>
            </a:xfrm>
            <a:prstGeom prst="rect">
              <a:avLst/>
            </a:prstGeom>
          </p:spPr>
          <p:txBody>
            <a:bodyPr anchor="t" rtlCol="false" tIns="0" lIns="0" bIns="0" rIns="0">
              <a:spAutoFit/>
            </a:bodyPr>
            <a:lstStyle/>
            <a:p>
              <a:pPr algn="ctr" marL="0" indent="0" lvl="0">
                <a:lnSpc>
                  <a:spcPts val="6600"/>
                </a:lnSpc>
                <a:spcBef>
                  <a:spcPct val="0"/>
                </a:spcBef>
              </a:pPr>
              <a:r>
                <a:rPr lang="en-US" sz="6000" strike="noStrike" u="none">
                  <a:solidFill>
                    <a:srgbClr val="1F2937"/>
                  </a:solidFill>
                  <a:latin typeface="Radley"/>
                  <a:ea typeface="Radley"/>
                  <a:cs typeface="Radley"/>
                  <a:sym typeface="Radley"/>
                </a:rPr>
                <a:t>70%</a:t>
              </a:r>
            </a:p>
          </p:txBody>
        </p:sp>
        <p:sp>
          <p:nvSpPr>
            <p:cNvPr name="TextBox 9" id="9"/>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strike="noStrike" u="none">
                  <a:solidFill>
                    <a:srgbClr val="1F2937"/>
                  </a:solidFill>
                  <a:latin typeface="Radley"/>
                  <a:ea typeface="Radley"/>
                  <a:cs typeface="Radley"/>
                  <a:sym typeface="Radley"/>
                </a:rPr>
                <a:t>Growth in e-commerce sales</a:t>
              </a:r>
            </a:p>
          </p:txBody>
        </p:sp>
      </p:grpSp>
      <p:grpSp>
        <p:nvGrpSpPr>
          <p:cNvPr name="Group 10" id="10"/>
          <p:cNvGrpSpPr/>
          <p:nvPr/>
        </p:nvGrpSpPr>
        <p:grpSpPr>
          <a:xfrm rot="0">
            <a:off x="3543300" y="6934288"/>
            <a:ext cx="11201400" cy="2066938"/>
            <a:chOff x="0" y="0"/>
            <a:chExt cx="14935200" cy="2755917"/>
          </a:xfrm>
        </p:grpSpPr>
        <p:sp>
          <p:nvSpPr>
            <p:cNvPr name="AutoShape 11" id="11"/>
            <p:cNvSpPr/>
            <p:nvPr/>
          </p:nvSpPr>
          <p:spPr>
            <a:xfrm flipH="true">
              <a:off x="4892198" y="1651034"/>
              <a:ext cx="5150805" cy="0"/>
            </a:xfrm>
            <a:prstGeom prst="line">
              <a:avLst/>
            </a:prstGeom>
            <a:ln cap="flat" w="25400">
              <a:solidFill>
                <a:srgbClr val="1F2937"/>
              </a:solidFill>
              <a:prstDash val="solid"/>
              <a:headEnd type="none" len="sm" w="sm"/>
              <a:tailEnd type="none" len="sm" w="sm"/>
            </a:ln>
          </p:spPr>
        </p:sp>
        <p:sp>
          <p:nvSpPr>
            <p:cNvPr name="TextBox 12" id="12"/>
            <p:cNvSpPr txBox="true"/>
            <p:nvPr/>
          </p:nvSpPr>
          <p:spPr>
            <a:xfrm rot="0">
              <a:off x="0" y="57150"/>
              <a:ext cx="14935200" cy="1162050"/>
            </a:xfrm>
            <a:prstGeom prst="rect">
              <a:avLst/>
            </a:prstGeom>
          </p:spPr>
          <p:txBody>
            <a:bodyPr anchor="t" rtlCol="false" tIns="0" lIns="0" bIns="0" rIns="0">
              <a:spAutoFit/>
            </a:bodyPr>
            <a:lstStyle/>
            <a:p>
              <a:pPr algn="ctr" marL="0" indent="0" lvl="0">
                <a:lnSpc>
                  <a:spcPts val="6600"/>
                </a:lnSpc>
                <a:spcBef>
                  <a:spcPct val="0"/>
                </a:spcBef>
              </a:pPr>
              <a:r>
                <a:rPr lang="en-US" sz="6000" strike="noStrike" u="none">
                  <a:solidFill>
                    <a:srgbClr val="1F2937"/>
                  </a:solidFill>
                  <a:latin typeface="Radley"/>
                  <a:ea typeface="Radley"/>
                  <a:cs typeface="Radley"/>
                  <a:sym typeface="Radley"/>
                </a:rPr>
                <a:t>90%</a:t>
              </a:r>
            </a:p>
          </p:txBody>
        </p:sp>
        <p:sp>
          <p:nvSpPr>
            <p:cNvPr name="TextBox 13" id="13"/>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strike="noStrike" u="none">
                  <a:solidFill>
                    <a:srgbClr val="1F2937"/>
                  </a:solidFill>
                  <a:latin typeface="Radley"/>
                  <a:ea typeface="Radley"/>
                  <a:cs typeface="Radley"/>
                  <a:sym typeface="Radley"/>
                </a:rPr>
                <a:t>Of consumers prefer</a:t>
              </a:r>
              <a:r>
                <a:rPr lang="en-US" sz="3500" strike="noStrike" u="none">
                  <a:solidFill>
                    <a:srgbClr val="1F2937"/>
                  </a:solidFill>
                  <a:latin typeface="Radley"/>
                  <a:ea typeface="Radley"/>
                  <a:cs typeface="Radley"/>
                  <a:sym typeface="Radley"/>
                </a:rPr>
                <a:t> online shopping</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723900"/>
            <a:ext cx="18026431" cy="1004572"/>
          </a:xfrm>
          <a:prstGeom prst="rect">
            <a:avLst/>
          </a:prstGeom>
        </p:spPr>
        <p:txBody>
          <a:bodyPr anchor="t" rtlCol="false" tIns="0" lIns="0" bIns="0" rIns="0">
            <a:spAutoFit/>
          </a:bodyPr>
          <a:lstStyle/>
          <a:p>
            <a:pPr algn="ctr" marL="0" indent="0" lvl="0">
              <a:lnSpc>
                <a:spcPts val="7840"/>
              </a:lnSpc>
              <a:spcBef>
                <a:spcPct val="0"/>
              </a:spcBef>
            </a:pPr>
            <a:r>
              <a:rPr lang="en-US" sz="7000">
                <a:solidFill>
                  <a:srgbClr val="1F2937"/>
                </a:solidFill>
                <a:latin typeface="Radley"/>
                <a:ea typeface="Radley"/>
                <a:cs typeface="Radley"/>
                <a:sym typeface="Radley"/>
              </a:rPr>
              <a:t>User Types in E-Commerce</a:t>
            </a:r>
          </a:p>
        </p:txBody>
      </p:sp>
      <p:grpSp>
        <p:nvGrpSpPr>
          <p:cNvPr name="Group 3" id="3"/>
          <p:cNvGrpSpPr/>
          <p:nvPr/>
        </p:nvGrpSpPr>
        <p:grpSpPr>
          <a:xfrm rot="0">
            <a:off x="666750" y="3352800"/>
            <a:ext cx="3679545" cy="1363461"/>
            <a:chOff x="0" y="0"/>
            <a:chExt cx="4906060" cy="1817948"/>
          </a:xfrm>
        </p:grpSpPr>
        <p:sp>
          <p:nvSpPr>
            <p:cNvPr name="TextBox 4" id="4"/>
            <p:cNvSpPr txBox="true"/>
            <p:nvPr/>
          </p:nvSpPr>
          <p:spPr>
            <a:xfrm rot="0">
              <a:off x="0" y="-66675"/>
              <a:ext cx="4906060" cy="740115"/>
            </a:xfrm>
            <a:prstGeom prst="rect">
              <a:avLst/>
            </a:prstGeom>
          </p:spPr>
          <p:txBody>
            <a:bodyPr anchor="t" rtlCol="false" tIns="0" lIns="0" bIns="0" rIns="0">
              <a:spAutoFit/>
            </a:bodyPr>
            <a:lstStyle/>
            <a:p>
              <a:pPr algn="l" marL="0" indent="0" lvl="0">
                <a:lnSpc>
                  <a:spcPts val="4710"/>
                </a:lnSpc>
                <a:spcBef>
                  <a:spcPct val="0"/>
                </a:spcBef>
              </a:pPr>
              <a:r>
                <a:rPr lang="en-US" sz="3364">
                  <a:solidFill>
                    <a:srgbClr val="1F2937"/>
                  </a:solidFill>
                  <a:latin typeface="Radley"/>
                  <a:ea typeface="Radley"/>
                  <a:cs typeface="Radley"/>
                  <a:sym typeface="Radley"/>
                </a:rPr>
                <a:t>Admin</a:t>
              </a:r>
            </a:p>
          </p:txBody>
        </p:sp>
        <p:sp>
          <p:nvSpPr>
            <p:cNvPr name="TextBox 5" id="5"/>
            <p:cNvSpPr txBox="true"/>
            <p:nvPr/>
          </p:nvSpPr>
          <p:spPr>
            <a:xfrm rot="0">
              <a:off x="0" y="638117"/>
              <a:ext cx="4906060" cy="1179831"/>
            </a:xfrm>
            <a:prstGeom prst="rect">
              <a:avLst/>
            </a:prstGeom>
          </p:spPr>
          <p:txBody>
            <a:bodyPr anchor="t" rtlCol="false" tIns="0" lIns="0" bIns="0" rIns="0">
              <a:spAutoFit/>
            </a:bodyPr>
            <a:lstStyle/>
            <a:p>
              <a:pPr algn="l" marL="0" indent="0" lvl="0">
                <a:lnSpc>
                  <a:spcPts val="3464"/>
                </a:lnSpc>
              </a:pPr>
              <a:r>
                <a:rPr lang="en-US" sz="2474">
                  <a:solidFill>
                    <a:srgbClr val="1F2937"/>
                  </a:solidFill>
                  <a:latin typeface="Carlito"/>
                  <a:ea typeface="Carlito"/>
                  <a:cs typeface="Carlito"/>
                  <a:sym typeface="Carlito"/>
                </a:rPr>
                <a:t>Manage platform operations effectively and efficiently</a:t>
              </a:r>
            </a:p>
          </p:txBody>
        </p:sp>
      </p:grpSp>
      <p:grpSp>
        <p:nvGrpSpPr>
          <p:cNvPr name="Group 6" id="6"/>
          <p:cNvGrpSpPr/>
          <p:nvPr/>
        </p:nvGrpSpPr>
        <p:grpSpPr>
          <a:xfrm rot="0">
            <a:off x="9296400" y="3352800"/>
            <a:ext cx="3476954" cy="1420474"/>
            <a:chOff x="0" y="0"/>
            <a:chExt cx="4635939" cy="1893966"/>
          </a:xfrm>
        </p:grpSpPr>
        <p:sp>
          <p:nvSpPr>
            <p:cNvPr name="TextBox 7" id="7"/>
            <p:cNvSpPr txBox="true"/>
            <p:nvPr/>
          </p:nvSpPr>
          <p:spPr>
            <a:xfrm rot="0">
              <a:off x="0" y="-66675"/>
              <a:ext cx="4635939" cy="740115"/>
            </a:xfrm>
            <a:prstGeom prst="rect">
              <a:avLst/>
            </a:prstGeom>
          </p:spPr>
          <p:txBody>
            <a:bodyPr anchor="t" rtlCol="false" tIns="0" lIns="0" bIns="0" rIns="0">
              <a:spAutoFit/>
            </a:bodyPr>
            <a:lstStyle/>
            <a:p>
              <a:pPr algn="l" marL="0" indent="0" lvl="0">
                <a:lnSpc>
                  <a:spcPts val="4710"/>
                </a:lnSpc>
                <a:spcBef>
                  <a:spcPct val="0"/>
                </a:spcBef>
              </a:pPr>
              <a:r>
                <a:rPr lang="en-US" sz="3364">
                  <a:solidFill>
                    <a:srgbClr val="1F2937"/>
                  </a:solidFill>
                  <a:latin typeface="Radley"/>
                  <a:ea typeface="Radley"/>
                  <a:cs typeface="Radley"/>
                  <a:sym typeface="Radley"/>
                </a:rPr>
                <a:t>Buyer</a:t>
              </a:r>
            </a:p>
          </p:txBody>
        </p:sp>
        <p:sp>
          <p:nvSpPr>
            <p:cNvPr name="TextBox 8" id="8"/>
            <p:cNvSpPr txBox="true"/>
            <p:nvPr/>
          </p:nvSpPr>
          <p:spPr>
            <a:xfrm rot="0">
              <a:off x="0" y="714135"/>
              <a:ext cx="4635939" cy="1179831"/>
            </a:xfrm>
            <a:prstGeom prst="rect">
              <a:avLst/>
            </a:prstGeom>
          </p:spPr>
          <p:txBody>
            <a:bodyPr anchor="t" rtlCol="false" tIns="0" lIns="0" bIns="0" rIns="0">
              <a:spAutoFit/>
            </a:bodyPr>
            <a:lstStyle/>
            <a:p>
              <a:pPr algn="l" marL="0" indent="0" lvl="0">
                <a:lnSpc>
                  <a:spcPts val="3464"/>
                </a:lnSpc>
                <a:spcBef>
                  <a:spcPct val="0"/>
                </a:spcBef>
              </a:pPr>
              <a:r>
                <a:rPr lang="en-US" sz="2474" strike="noStrike" u="none">
                  <a:solidFill>
                    <a:srgbClr val="1F2937"/>
                  </a:solidFill>
                  <a:latin typeface="Carlito"/>
                  <a:ea typeface="Carlito"/>
                  <a:cs typeface="Carlito"/>
                  <a:sym typeface="Carlito"/>
                </a:rPr>
                <a:t>Browse and purchase products effortlessly online</a:t>
              </a:r>
            </a:p>
          </p:txBody>
        </p:sp>
      </p:grpSp>
      <p:grpSp>
        <p:nvGrpSpPr>
          <p:cNvPr name="Group 9" id="9"/>
          <p:cNvGrpSpPr/>
          <p:nvPr/>
        </p:nvGrpSpPr>
        <p:grpSpPr>
          <a:xfrm rot="0">
            <a:off x="5071615" y="3352800"/>
            <a:ext cx="3407712" cy="1363461"/>
            <a:chOff x="0" y="0"/>
            <a:chExt cx="4543615" cy="1817948"/>
          </a:xfrm>
        </p:grpSpPr>
        <p:sp>
          <p:nvSpPr>
            <p:cNvPr name="TextBox 10" id="10"/>
            <p:cNvSpPr txBox="true"/>
            <p:nvPr/>
          </p:nvSpPr>
          <p:spPr>
            <a:xfrm rot="0">
              <a:off x="0" y="-66675"/>
              <a:ext cx="4543615" cy="740115"/>
            </a:xfrm>
            <a:prstGeom prst="rect">
              <a:avLst/>
            </a:prstGeom>
          </p:spPr>
          <p:txBody>
            <a:bodyPr anchor="t" rtlCol="false" tIns="0" lIns="0" bIns="0" rIns="0">
              <a:spAutoFit/>
            </a:bodyPr>
            <a:lstStyle/>
            <a:p>
              <a:pPr algn="l" marL="0" indent="0" lvl="0">
                <a:lnSpc>
                  <a:spcPts val="4710"/>
                </a:lnSpc>
                <a:spcBef>
                  <a:spcPct val="0"/>
                </a:spcBef>
              </a:pPr>
              <a:r>
                <a:rPr lang="en-US" sz="3364">
                  <a:solidFill>
                    <a:srgbClr val="1F2937"/>
                  </a:solidFill>
                  <a:latin typeface="Radley"/>
                  <a:ea typeface="Radley"/>
                  <a:cs typeface="Radley"/>
                  <a:sym typeface="Radley"/>
                </a:rPr>
                <a:t>Seller</a:t>
              </a:r>
            </a:p>
          </p:txBody>
        </p:sp>
        <p:sp>
          <p:nvSpPr>
            <p:cNvPr name="TextBox 11" id="11"/>
            <p:cNvSpPr txBox="true"/>
            <p:nvPr/>
          </p:nvSpPr>
          <p:spPr>
            <a:xfrm rot="0">
              <a:off x="0" y="638117"/>
              <a:ext cx="4543615" cy="1179831"/>
            </a:xfrm>
            <a:prstGeom prst="rect">
              <a:avLst/>
            </a:prstGeom>
          </p:spPr>
          <p:txBody>
            <a:bodyPr anchor="t" rtlCol="false" tIns="0" lIns="0" bIns="0" rIns="0">
              <a:spAutoFit/>
            </a:bodyPr>
            <a:lstStyle/>
            <a:p>
              <a:pPr algn="l" marL="0" indent="0" lvl="0">
                <a:lnSpc>
                  <a:spcPts val="3464"/>
                </a:lnSpc>
                <a:spcBef>
                  <a:spcPct val="0"/>
                </a:spcBef>
              </a:pPr>
              <a:r>
                <a:rPr lang="en-US" sz="2474" strike="noStrike" u="none">
                  <a:solidFill>
                    <a:srgbClr val="1F2937"/>
                  </a:solidFill>
                  <a:latin typeface="Carlito"/>
                  <a:ea typeface="Carlito"/>
                  <a:cs typeface="Carlito"/>
                  <a:sym typeface="Carlito"/>
                </a:rPr>
                <a:t>Create and manage product listings seamlessly</a:t>
              </a:r>
            </a:p>
          </p:txBody>
        </p:sp>
      </p:grpSp>
      <p:grpSp>
        <p:nvGrpSpPr>
          <p:cNvPr name="Group 12" id="12"/>
          <p:cNvGrpSpPr/>
          <p:nvPr/>
        </p:nvGrpSpPr>
        <p:grpSpPr>
          <a:xfrm rot="0">
            <a:off x="9296400" y="4922520"/>
            <a:ext cx="4010025" cy="4697730"/>
            <a:chOff x="0" y="0"/>
            <a:chExt cx="1391532" cy="1630175"/>
          </a:xfrm>
        </p:grpSpPr>
        <p:sp>
          <p:nvSpPr>
            <p:cNvPr name="Freeform 13" id="13"/>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2"/>
              <a:stretch>
                <a:fillRect l="0" t="-138" r="0" b="-138"/>
              </a:stretch>
            </a:blipFill>
          </p:spPr>
        </p:sp>
      </p:grpSp>
      <p:grpSp>
        <p:nvGrpSpPr>
          <p:cNvPr name="Group 14" id="14"/>
          <p:cNvGrpSpPr/>
          <p:nvPr/>
        </p:nvGrpSpPr>
        <p:grpSpPr>
          <a:xfrm rot="0">
            <a:off x="4981575" y="4922520"/>
            <a:ext cx="4010025" cy="4697730"/>
            <a:chOff x="0" y="0"/>
            <a:chExt cx="1391532" cy="1630175"/>
          </a:xfrm>
        </p:grpSpPr>
        <p:sp>
          <p:nvSpPr>
            <p:cNvPr name="Freeform 15" id="15"/>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3"/>
              <a:stretch>
                <a:fillRect l="0" t="-138" r="0" b="-138"/>
              </a:stretch>
            </a:blipFill>
          </p:spPr>
        </p:sp>
      </p:grpSp>
      <p:grpSp>
        <p:nvGrpSpPr>
          <p:cNvPr name="Group 16" id="16"/>
          <p:cNvGrpSpPr/>
          <p:nvPr/>
        </p:nvGrpSpPr>
        <p:grpSpPr>
          <a:xfrm rot="0">
            <a:off x="666750" y="4922520"/>
            <a:ext cx="4010025" cy="4697730"/>
            <a:chOff x="0" y="0"/>
            <a:chExt cx="879848" cy="1030739"/>
          </a:xfrm>
        </p:grpSpPr>
        <p:sp>
          <p:nvSpPr>
            <p:cNvPr name="Freeform 17" id="17"/>
            <p:cNvSpPr/>
            <p:nvPr/>
          </p:nvSpPr>
          <p:spPr>
            <a:xfrm flipH="false" flipV="false" rot="0">
              <a:off x="0" y="0"/>
              <a:ext cx="879848" cy="1030739"/>
            </a:xfrm>
            <a:custGeom>
              <a:avLst/>
              <a:gdLst/>
              <a:ahLst/>
              <a:cxnLst/>
              <a:rect r="r" b="b" t="t" l="l"/>
              <a:pathLst>
                <a:path h="1030739" w="879848">
                  <a:moveTo>
                    <a:pt x="0" y="0"/>
                  </a:moveTo>
                  <a:lnTo>
                    <a:pt x="879848" y="0"/>
                  </a:lnTo>
                  <a:lnTo>
                    <a:pt x="879848" y="1030739"/>
                  </a:lnTo>
                  <a:lnTo>
                    <a:pt x="0" y="1030739"/>
                  </a:lnTo>
                  <a:close/>
                </a:path>
              </a:pathLst>
            </a:custGeom>
            <a:blipFill>
              <a:blip r:embed="rId4"/>
              <a:stretch>
                <a:fillRect l="0" t="-138" r="0" b="-138"/>
              </a:stretch>
            </a:blipFill>
          </p:spPr>
        </p:sp>
      </p:grpSp>
      <p:grpSp>
        <p:nvGrpSpPr>
          <p:cNvPr name="Group 18" id="18"/>
          <p:cNvGrpSpPr/>
          <p:nvPr/>
        </p:nvGrpSpPr>
        <p:grpSpPr>
          <a:xfrm rot="0">
            <a:off x="13611554" y="4922520"/>
            <a:ext cx="4010025" cy="4697730"/>
            <a:chOff x="0" y="0"/>
            <a:chExt cx="1391532" cy="1630175"/>
          </a:xfrm>
        </p:grpSpPr>
        <p:sp>
          <p:nvSpPr>
            <p:cNvPr name="Freeform 19" id="19"/>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5"/>
              <a:stretch>
                <a:fillRect l="0" t="-138" r="0" b="-138"/>
              </a:stretch>
            </a:blipFill>
          </p:spPr>
        </p:sp>
      </p:grpSp>
      <p:grpSp>
        <p:nvGrpSpPr>
          <p:cNvPr name="Group 20" id="20"/>
          <p:cNvGrpSpPr/>
          <p:nvPr/>
        </p:nvGrpSpPr>
        <p:grpSpPr>
          <a:xfrm rot="0">
            <a:off x="13611554" y="3352800"/>
            <a:ext cx="3476954" cy="1420474"/>
            <a:chOff x="0" y="0"/>
            <a:chExt cx="4635939" cy="1893966"/>
          </a:xfrm>
        </p:grpSpPr>
        <p:sp>
          <p:nvSpPr>
            <p:cNvPr name="TextBox 21" id="21"/>
            <p:cNvSpPr txBox="true"/>
            <p:nvPr/>
          </p:nvSpPr>
          <p:spPr>
            <a:xfrm rot="0">
              <a:off x="0" y="-66675"/>
              <a:ext cx="4635939" cy="740115"/>
            </a:xfrm>
            <a:prstGeom prst="rect">
              <a:avLst/>
            </a:prstGeom>
          </p:spPr>
          <p:txBody>
            <a:bodyPr anchor="t" rtlCol="false" tIns="0" lIns="0" bIns="0" rIns="0">
              <a:spAutoFit/>
            </a:bodyPr>
            <a:lstStyle/>
            <a:p>
              <a:pPr algn="l" marL="0" indent="0" lvl="0">
                <a:lnSpc>
                  <a:spcPts val="4710"/>
                </a:lnSpc>
                <a:spcBef>
                  <a:spcPct val="0"/>
                </a:spcBef>
              </a:pPr>
              <a:r>
                <a:rPr lang="en-US" sz="3364">
                  <a:solidFill>
                    <a:srgbClr val="1F2937"/>
                  </a:solidFill>
                  <a:latin typeface="Radley"/>
                  <a:ea typeface="Radley"/>
                  <a:cs typeface="Radley"/>
                  <a:sym typeface="Radley"/>
                </a:rPr>
                <a:t>All Users</a:t>
              </a:r>
            </a:p>
          </p:txBody>
        </p:sp>
        <p:sp>
          <p:nvSpPr>
            <p:cNvPr name="TextBox 22" id="22"/>
            <p:cNvSpPr txBox="true"/>
            <p:nvPr/>
          </p:nvSpPr>
          <p:spPr>
            <a:xfrm rot="0">
              <a:off x="0" y="714135"/>
              <a:ext cx="4635939" cy="1179831"/>
            </a:xfrm>
            <a:prstGeom prst="rect">
              <a:avLst/>
            </a:prstGeom>
          </p:spPr>
          <p:txBody>
            <a:bodyPr anchor="t" rtlCol="false" tIns="0" lIns="0" bIns="0" rIns="0">
              <a:spAutoFit/>
            </a:bodyPr>
            <a:lstStyle/>
            <a:p>
              <a:pPr algn="l" marL="0" indent="0" lvl="0">
                <a:lnSpc>
                  <a:spcPts val="3464"/>
                </a:lnSpc>
                <a:spcBef>
                  <a:spcPct val="0"/>
                </a:spcBef>
              </a:pPr>
              <a:r>
                <a:rPr lang="en-US" sz="2474" strike="noStrike" u="none">
                  <a:solidFill>
                    <a:srgbClr val="1F2937"/>
                  </a:solidFill>
                  <a:latin typeface="Carlito"/>
                  <a:ea typeface="Carlito"/>
                  <a:cs typeface="Carlito"/>
                  <a:sym typeface="Carlito"/>
                </a:rPr>
                <a:t>Collaborate for a smoother shopping experience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666750" y="666755"/>
            <a:ext cx="8108756" cy="8621141"/>
            <a:chOff x="0" y="0"/>
            <a:chExt cx="10811675" cy="11494855"/>
          </a:xfrm>
        </p:grpSpPr>
        <p:sp>
          <p:nvSpPr>
            <p:cNvPr name="TextBox 5" id="5"/>
            <p:cNvSpPr txBox="true"/>
            <p:nvPr/>
          </p:nvSpPr>
          <p:spPr>
            <a:xfrm rot="0">
              <a:off x="29523" y="57150"/>
              <a:ext cx="10782152" cy="2731434"/>
            </a:xfrm>
            <a:prstGeom prst="rect">
              <a:avLst/>
            </a:prstGeom>
          </p:spPr>
          <p:txBody>
            <a:bodyPr anchor="t" rtlCol="false" tIns="0" lIns="0" bIns="0" rIns="0">
              <a:spAutoFit/>
            </a:bodyPr>
            <a:lstStyle/>
            <a:p>
              <a:pPr algn="l" marL="0" indent="0" lvl="0">
                <a:lnSpc>
                  <a:spcPts val="7952"/>
                </a:lnSpc>
                <a:spcBef>
                  <a:spcPct val="0"/>
                </a:spcBef>
              </a:pPr>
              <a:r>
                <a:rPr lang="en-US" sz="7100" i="true">
                  <a:solidFill>
                    <a:srgbClr val="1F2937"/>
                  </a:solidFill>
                  <a:latin typeface="Radley Italics"/>
                  <a:ea typeface="Radley Italics"/>
                  <a:cs typeface="Radley Italics"/>
                  <a:sym typeface="Radley Italics"/>
                </a:rPr>
                <a:t>Admin Functionalities</a:t>
              </a:r>
            </a:p>
          </p:txBody>
        </p:sp>
        <p:sp>
          <p:nvSpPr>
            <p:cNvPr name="TextBox 6" id="6"/>
            <p:cNvSpPr txBox="true"/>
            <p:nvPr/>
          </p:nvSpPr>
          <p:spPr>
            <a:xfrm rot="0">
              <a:off x="29523" y="3760555"/>
              <a:ext cx="10782152" cy="1524000"/>
            </a:xfrm>
            <a:prstGeom prst="rect">
              <a:avLst/>
            </a:prstGeom>
          </p:spPr>
          <p:txBody>
            <a:bodyPr anchor="t" rtlCol="false" tIns="0" lIns="0" bIns="0" rIns="0">
              <a:spAutoFit/>
            </a:bodyPr>
            <a:lstStyle/>
            <a:p>
              <a:pPr algn="l" marL="0" indent="0" lvl="0">
                <a:lnSpc>
                  <a:spcPts val="4559"/>
                </a:lnSpc>
                <a:spcBef>
                  <a:spcPct val="0"/>
                </a:spcBef>
              </a:pPr>
              <a:r>
                <a:rPr lang="en-US" sz="3799" u="none">
                  <a:solidFill>
                    <a:srgbClr val="1F2937"/>
                  </a:solidFill>
                  <a:latin typeface="Radley"/>
                  <a:ea typeface="Radley"/>
                  <a:cs typeface="Radley"/>
                  <a:sym typeface="Radley"/>
                </a:rPr>
                <a:t>Key Management Tasks for E-Commerce Platform Administration</a:t>
              </a:r>
            </a:p>
          </p:txBody>
        </p:sp>
        <p:sp>
          <p:nvSpPr>
            <p:cNvPr name="AutoShape 7" id="7"/>
            <p:cNvSpPr/>
            <p:nvPr/>
          </p:nvSpPr>
          <p:spPr>
            <a:xfrm>
              <a:off x="0" y="3274569"/>
              <a:ext cx="10782152" cy="0"/>
            </a:xfrm>
            <a:prstGeom prst="line">
              <a:avLst/>
            </a:prstGeom>
            <a:ln cap="flat" w="25400">
              <a:solidFill>
                <a:srgbClr val="1F2937"/>
              </a:solidFill>
              <a:prstDash val="solid"/>
              <a:headEnd type="none" len="sm" w="sm"/>
              <a:tailEnd type="none" len="sm" w="sm"/>
            </a:ln>
          </p:spPr>
        </p:sp>
        <p:sp>
          <p:nvSpPr>
            <p:cNvPr name="TextBox 8" id="8"/>
            <p:cNvSpPr txBox="true"/>
            <p:nvPr/>
          </p:nvSpPr>
          <p:spPr>
            <a:xfrm rot="0">
              <a:off x="29523" y="6662505"/>
              <a:ext cx="10752630" cy="4832350"/>
            </a:xfrm>
            <a:prstGeom prst="rect">
              <a:avLst/>
            </a:prstGeom>
          </p:spPr>
          <p:txBody>
            <a:bodyPr anchor="t" rtlCol="false" tIns="0" lIns="0" bIns="0" rIns="0">
              <a:spAutoFit/>
            </a:bodyPr>
            <a:lstStyle/>
            <a:p>
              <a:pPr algn="l">
                <a:lnSpc>
                  <a:spcPts val="3599"/>
                </a:lnSpc>
              </a:pPr>
              <a:r>
                <a:rPr lang="en-US" sz="2999">
                  <a:solidFill>
                    <a:srgbClr val="1F2937"/>
                  </a:solidFill>
                  <a:latin typeface="Carlito"/>
                  <a:ea typeface="Carlito"/>
                  <a:cs typeface="Carlito"/>
                  <a:sym typeface="Carlito"/>
                </a:rPr>
                <a:t>Effective administration is essential for a successful e-commerce platform. Administrators have important duties, including managing users, overseeing products, and tracking orders. These tasks keep operations running smoothly, improve user experiences, and enable seamless transactions for both buyers and sellers.</a:t>
              </a:r>
            </a:p>
            <a:p>
              <a:pPr algn="l" marL="0" indent="0" lvl="0">
                <a:lnSpc>
                  <a:spcPts val="3599"/>
                </a:lnSpc>
              </a:pP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1F2937"/>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666750" y="247610"/>
            <a:ext cx="10429875" cy="8792378"/>
            <a:chOff x="0" y="0"/>
            <a:chExt cx="13906500" cy="11723170"/>
          </a:xfrm>
        </p:grpSpPr>
        <p:sp>
          <p:nvSpPr>
            <p:cNvPr name="TextBox 5" id="5"/>
            <p:cNvSpPr txBox="true"/>
            <p:nvPr/>
          </p:nvSpPr>
          <p:spPr>
            <a:xfrm rot="0">
              <a:off x="37973" y="47625"/>
              <a:ext cx="13868527" cy="1362636"/>
            </a:xfrm>
            <a:prstGeom prst="rect">
              <a:avLst/>
            </a:prstGeom>
          </p:spPr>
          <p:txBody>
            <a:bodyPr anchor="t" rtlCol="false" tIns="0" lIns="0" bIns="0" rIns="0">
              <a:spAutoFit/>
            </a:bodyPr>
            <a:lstStyle/>
            <a:p>
              <a:pPr algn="l" marL="0" indent="0" lvl="0">
                <a:lnSpc>
                  <a:spcPts val="7773"/>
                </a:lnSpc>
                <a:spcBef>
                  <a:spcPct val="0"/>
                </a:spcBef>
              </a:pPr>
              <a:r>
                <a:rPr lang="en-US" sz="6940" i="true">
                  <a:solidFill>
                    <a:srgbClr val="1F2937"/>
                  </a:solidFill>
                  <a:latin typeface="Radley Italics"/>
                  <a:ea typeface="Radley Italics"/>
                  <a:cs typeface="Radley Italics"/>
                  <a:sym typeface="Radley Italics"/>
                </a:rPr>
                <a:t>Seller Functionalities</a:t>
              </a:r>
            </a:p>
          </p:txBody>
        </p:sp>
        <p:sp>
          <p:nvSpPr>
            <p:cNvPr name="TextBox 6" id="6"/>
            <p:cNvSpPr txBox="true"/>
            <p:nvPr/>
          </p:nvSpPr>
          <p:spPr>
            <a:xfrm rot="0">
              <a:off x="37973" y="4824653"/>
              <a:ext cx="13868527" cy="1480772"/>
            </a:xfrm>
            <a:prstGeom prst="rect">
              <a:avLst/>
            </a:prstGeom>
          </p:spPr>
          <p:txBody>
            <a:bodyPr anchor="t" rtlCol="false" tIns="0" lIns="0" bIns="0" rIns="0">
              <a:spAutoFit/>
            </a:bodyPr>
            <a:lstStyle/>
            <a:p>
              <a:pPr algn="l" marL="0" indent="0" lvl="0">
                <a:lnSpc>
                  <a:spcPts val="4441"/>
                </a:lnSpc>
                <a:spcBef>
                  <a:spcPct val="0"/>
                </a:spcBef>
              </a:pPr>
              <a:r>
                <a:rPr lang="en-US" sz="3701" u="none">
                  <a:solidFill>
                    <a:srgbClr val="1F2937"/>
                  </a:solidFill>
                  <a:latin typeface="Radley"/>
                  <a:ea typeface="Radley"/>
                  <a:cs typeface="Radley"/>
                  <a:sym typeface="Radley"/>
                </a:rPr>
                <a:t>Key features that empower sellers to succeed online</a:t>
              </a:r>
            </a:p>
          </p:txBody>
        </p:sp>
        <p:sp>
          <p:nvSpPr>
            <p:cNvPr name="AutoShape 7" id="7"/>
            <p:cNvSpPr/>
            <p:nvPr/>
          </p:nvSpPr>
          <p:spPr>
            <a:xfrm>
              <a:off x="0" y="4374938"/>
              <a:ext cx="13868527" cy="0"/>
            </a:xfrm>
            <a:prstGeom prst="line">
              <a:avLst/>
            </a:prstGeom>
            <a:ln cap="flat" w="23504">
              <a:solidFill>
                <a:srgbClr val="1F2937"/>
              </a:solidFill>
              <a:prstDash val="solid"/>
              <a:headEnd type="none" len="sm" w="sm"/>
              <a:tailEnd type="none" len="sm" w="sm"/>
            </a:ln>
          </p:spPr>
        </p:sp>
        <p:sp>
          <p:nvSpPr>
            <p:cNvPr name="TextBox 8" id="8"/>
            <p:cNvSpPr txBox="true"/>
            <p:nvPr/>
          </p:nvSpPr>
          <p:spPr>
            <a:xfrm rot="0">
              <a:off x="37973" y="6871139"/>
              <a:ext cx="13830553" cy="4852031"/>
            </a:xfrm>
            <a:prstGeom prst="rect">
              <a:avLst/>
            </a:prstGeom>
          </p:spPr>
          <p:txBody>
            <a:bodyPr anchor="t" rtlCol="false" tIns="0" lIns="0" bIns="0" rIns="0">
              <a:spAutoFit/>
            </a:bodyPr>
            <a:lstStyle/>
            <a:p>
              <a:pPr algn="l" marL="0" indent="0" lvl="0">
                <a:lnSpc>
                  <a:spcPts val="3553"/>
                </a:lnSpc>
              </a:pPr>
              <a:r>
                <a:rPr lang="en-US" sz="2961">
                  <a:solidFill>
                    <a:srgbClr val="1F2937"/>
                  </a:solidFill>
                  <a:latin typeface="Carlito"/>
                  <a:ea typeface="Carlito"/>
                  <a:cs typeface="Carlito"/>
                  <a:sym typeface="Carlito"/>
                </a:rPr>
                <a:t>The platform provides sellers with basic tools for efficient management of products and sales. We have easy product listing, inventory updates, and order processing which in turn makes daily operations smooth. Also we see that the very intuitive interface which we have saved sellers’ time, reduced their work load, improved performance and in the end supported business growth also which at the same time has made the shopping experience for buyers very smooth and consistent.</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1F2937"/>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464160" y="318072"/>
            <a:ext cx="8304075" cy="8940228"/>
            <a:chOff x="0" y="0"/>
            <a:chExt cx="11072100" cy="11920305"/>
          </a:xfrm>
        </p:grpSpPr>
        <p:sp>
          <p:nvSpPr>
            <p:cNvPr name="TextBox 5" id="5"/>
            <p:cNvSpPr txBox="true"/>
            <p:nvPr/>
          </p:nvSpPr>
          <p:spPr>
            <a:xfrm rot="0">
              <a:off x="30234" y="57150"/>
              <a:ext cx="11041866" cy="1292045"/>
            </a:xfrm>
            <a:prstGeom prst="rect">
              <a:avLst/>
            </a:prstGeom>
          </p:spPr>
          <p:txBody>
            <a:bodyPr anchor="t" rtlCol="false" tIns="0" lIns="0" bIns="0" rIns="0">
              <a:spAutoFit/>
            </a:bodyPr>
            <a:lstStyle/>
            <a:p>
              <a:pPr algn="l" marL="0" indent="0" lvl="0">
                <a:lnSpc>
                  <a:spcPts val="7470"/>
                </a:lnSpc>
                <a:spcBef>
                  <a:spcPct val="0"/>
                </a:spcBef>
              </a:pPr>
              <a:r>
                <a:rPr lang="en-US" sz="6669" i="true">
                  <a:solidFill>
                    <a:srgbClr val="1F2937"/>
                  </a:solidFill>
                  <a:latin typeface="Radley Italics"/>
                  <a:ea typeface="Radley Italics"/>
                  <a:cs typeface="Radley Italics"/>
                  <a:sym typeface="Radley Italics"/>
                </a:rPr>
                <a:t>Buyer Functionalities</a:t>
              </a:r>
            </a:p>
          </p:txBody>
        </p:sp>
        <p:sp>
          <p:nvSpPr>
            <p:cNvPr name="TextBox 6" id="6"/>
            <p:cNvSpPr txBox="true"/>
            <p:nvPr/>
          </p:nvSpPr>
          <p:spPr>
            <a:xfrm rot="0">
              <a:off x="30234" y="4731980"/>
              <a:ext cx="11041866" cy="1576490"/>
            </a:xfrm>
            <a:prstGeom prst="rect">
              <a:avLst/>
            </a:prstGeom>
          </p:spPr>
          <p:txBody>
            <a:bodyPr anchor="t" rtlCol="false" tIns="0" lIns="0" bIns="0" rIns="0">
              <a:spAutoFit/>
            </a:bodyPr>
            <a:lstStyle/>
            <a:p>
              <a:pPr algn="l" marL="0" indent="0" lvl="0">
                <a:lnSpc>
                  <a:spcPts val="4668"/>
                </a:lnSpc>
                <a:spcBef>
                  <a:spcPct val="0"/>
                </a:spcBef>
              </a:pPr>
              <a:r>
                <a:rPr lang="en-US" sz="3890" u="none">
                  <a:solidFill>
                    <a:srgbClr val="1F2937"/>
                  </a:solidFill>
                  <a:latin typeface="Radley"/>
                  <a:ea typeface="Radley"/>
                  <a:cs typeface="Radley"/>
                  <a:sym typeface="Radley"/>
                </a:rPr>
                <a:t>Essential features for a seamless online shopping experience</a:t>
              </a:r>
            </a:p>
          </p:txBody>
        </p:sp>
        <p:sp>
          <p:nvSpPr>
            <p:cNvPr name="AutoShape 7" id="7"/>
            <p:cNvSpPr/>
            <p:nvPr/>
          </p:nvSpPr>
          <p:spPr>
            <a:xfrm>
              <a:off x="0" y="4281780"/>
              <a:ext cx="11041866" cy="0"/>
            </a:xfrm>
            <a:prstGeom prst="line">
              <a:avLst/>
            </a:prstGeom>
            <a:ln cap="flat" w="23530">
              <a:solidFill>
                <a:srgbClr val="1F2937"/>
              </a:solidFill>
              <a:prstDash val="solid"/>
              <a:headEnd type="none" len="sm" w="sm"/>
              <a:tailEnd type="none" len="sm" w="sm"/>
            </a:ln>
          </p:spPr>
        </p:sp>
        <p:sp>
          <p:nvSpPr>
            <p:cNvPr name="TextBox 8" id="8"/>
            <p:cNvSpPr txBox="true"/>
            <p:nvPr/>
          </p:nvSpPr>
          <p:spPr>
            <a:xfrm rot="0">
              <a:off x="30234" y="7663103"/>
              <a:ext cx="11011632" cy="4257202"/>
            </a:xfrm>
            <a:prstGeom prst="rect">
              <a:avLst/>
            </a:prstGeom>
          </p:spPr>
          <p:txBody>
            <a:bodyPr anchor="t" rtlCol="false" tIns="0" lIns="0" bIns="0" rIns="0">
              <a:spAutoFit/>
            </a:bodyPr>
            <a:lstStyle/>
            <a:p>
              <a:pPr algn="l" marL="0" indent="0" lvl="0">
                <a:lnSpc>
                  <a:spcPts val="3557"/>
                </a:lnSpc>
              </a:pPr>
              <a:r>
                <a:rPr lang="en-US" sz="2964">
                  <a:solidFill>
                    <a:srgbClr val="1F2937"/>
                  </a:solidFill>
                  <a:latin typeface="Carlito"/>
                  <a:ea typeface="Carlito"/>
                  <a:cs typeface="Carlito"/>
                  <a:sym typeface="Carlito"/>
                </a:rPr>
                <a:t>Buyers are able to go through a wide range of products, buy what they want with ease, and check the status of their orders in real time. We have put in place a very user friendly shopping environment which in turn increases convenience and satisfaction. Also with easy to use navigation buyers may find what best fits their wants and needs.</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1F2937"/>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3325" y="0"/>
            <a:ext cx="10734675" cy="6934200"/>
            <a:chOff x="0" y="0"/>
            <a:chExt cx="3111331" cy="2009804"/>
          </a:xfrm>
        </p:grpSpPr>
        <p:sp>
          <p:nvSpPr>
            <p:cNvPr name="Freeform 3" id="3"/>
            <p:cNvSpPr/>
            <p:nvPr/>
          </p:nvSpPr>
          <p:spPr>
            <a:xfrm flipH="false" flipV="false" rot="0">
              <a:off x="0" y="0"/>
              <a:ext cx="3111331" cy="2009804"/>
            </a:xfrm>
            <a:custGeom>
              <a:avLst/>
              <a:gdLst/>
              <a:ahLst/>
              <a:cxnLst/>
              <a:rect r="r" b="b" t="t" l="l"/>
              <a:pathLst>
                <a:path h="2009804" w="3111331">
                  <a:moveTo>
                    <a:pt x="0" y="0"/>
                  </a:moveTo>
                  <a:lnTo>
                    <a:pt x="3111331" y="0"/>
                  </a:lnTo>
                  <a:lnTo>
                    <a:pt x="3111331" y="2009804"/>
                  </a:lnTo>
                  <a:lnTo>
                    <a:pt x="0" y="2009804"/>
                  </a:lnTo>
                  <a:close/>
                </a:path>
              </a:pathLst>
            </a:custGeom>
            <a:blipFill>
              <a:blip r:embed="rId2"/>
              <a:stretch>
                <a:fillRect l="-74" t="0" r="-74" b="0"/>
              </a:stretch>
            </a:blipFill>
          </p:spPr>
        </p:sp>
      </p:grpSp>
      <p:sp>
        <p:nvSpPr>
          <p:cNvPr name="TextBox 4" id="4"/>
          <p:cNvSpPr txBox="true"/>
          <p:nvPr/>
        </p:nvSpPr>
        <p:spPr>
          <a:xfrm rot="0">
            <a:off x="666750" y="723900"/>
            <a:ext cx="4619625" cy="29857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1F2937"/>
                </a:solidFill>
                <a:latin typeface="Radley"/>
                <a:ea typeface="Radley"/>
                <a:cs typeface="Radley"/>
                <a:sym typeface="Radley"/>
              </a:rPr>
              <a:t>Admin Dashboard Features</a:t>
            </a:r>
          </a:p>
        </p:txBody>
      </p:sp>
      <p:grpSp>
        <p:nvGrpSpPr>
          <p:cNvPr name="Group 5" id="5"/>
          <p:cNvGrpSpPr/>
          <p:nvPr/>
        </p:nvGrpSpPr>
        <p:grpSpPr>
          <a:xfrm rot="0">
            <a:off x="7553325" y="7829550"/>
            <a:ext cx="6518441" cy="1637666"/>
            <a:chOff x="0" y="0"/>
            <a:chExt cx="8691255" cy="2183555"/>
          </a:xfrm>
        </p:grpSpPr>
        <p:sp>
          <p:nvSpPr>
            <p:cNvPr name="TextBox 6" id="6"/>
            <p:cNvSpPr txBox="true"/>
            <p:nvPr/>
          </p:nvSpPr>
          <p:spPr>
            <a:xfrm rot="0">
              <a:off x="0" y="-76200"/>
              <a:ext cx="8691255" cy="858521"/>
            </a:xfrm>
            <a:prstGeom prst="rect">
              <a:avLst/>
            </a:prstGeom>
          </p:spPr>
          <p:txBody>
            <a:bodyPr anchor="t" rtlCol="false" tIns="0" lIns="0" bIns="0" rIns="0">
              <a:spAutoFit/>
            </a:bodyPr>
            <a:lstStyle/>
            <a:p>
              <a:pPr algn="l" marL="0" indent="0" lvl="0">
                <a:lnSpc>
                  <a:spcPts val="5459"/>
                </a:lnSpc>
                <a:spcBef>
                  <a:spcPct val="0"/>
                </a:spcBef>
              </a:pPr>
              <a:r>
                <a:rPr lang="en-US" sz="3899">
                  <a:solidFill>
                    <a:srgbClr val="1F2937"/>
                  </a:solidFill>
                  <a:latin typeface="Radley"/>
                  <a:ea typeface="Radley"/>
                  <a:cs typeface="Radley"/>
                  <a:sym typeface="Radley"/>
                </a:rPr>
                <a:t>Key Features</a:t>
              </a:r>
            </a:p>
          </p:txBody>
        </p:sp>
        <p:sp>
          <p:nvSpPr>
            <p:cNvPr name="TextBox 7" id="7"/>
            <p:cNvSpPr txBox="true"/>
            <p:nvPr/>
          </p:nvSpPr>
          <p:spPr>
            <a:xfrm rot="0">
              <a:off x="0" y="947633"/>
              <a:ext cx="8691255" cy="1235922"/>
            </a:xfrm>
            <a:prstGeom prst="rect">
              <a:avLst/>
            </a:prstGeom>
          </p:spPr>
          <p:txBody>
            <a:bodyPr anchor="t" rtlCol="false" tIns="0" lIns="0" bIns="0" rIns="0">
              <a:spAutoFit/>
            </a:bodyPr>
            <a:lstStyle/>
            <a:p>
              <a:pPr algn="l" marL="0" indent="0" lvl="0">
                <a:lnSpc>
                  <a:spcPts val="3639"/>
                </a:lnSpc>
              </a:pPr>
              <a:r>
                <a:rPr lang="en-US" sz="2599">
                  <a:solidFill>
                    <a:srgbClr val="1F2937"/>
                  </a:solidFill>
                  <a:latin typeface="Carlito"/>
                  <a:ea typeface="Carlito"/>
                  <a:cs typeface="Carlito"/>
                  <a:sym typeface="Carlito"/>
                </a:rPr>
                <a:t>Manage users, products, and orders seamlessly with efficiency.</a:t>
              </a:r>
            </a:p>
          </p:txBody>
        </p:sp>
      </p:grpSp>
      <p:grpSp>
        <p:nvGrpSpPr>
          <p:cNvPr name="Group 8" id="8"/>
          <p:cNvGrpSpPr/>
          <p:nvPr/>
        </p:nvGrpSpPr>
        <p:grpSpPr>
          <a:xfrm rot="0">
            <a:off x="666750" y="9184102"/>
            <a:ext cx="2171730" cy="2205796"/>
            <a:chOff x="0" y="0"/>
            <a:chExt cx="812800" cy="825500"/>
          </a:xfrm>
        </p:grpSpPr>
        <p:sp>
          <p:nvSpPr>
            <p:cNvPr name="Freeform 9" id="9"/>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1F2937"/>
            </a:solidFill>
          </p:spPr>
        </p:sp>
        <p:sp>
          <p:nvSpPr>
            <p:cNvPr name="TextBox 10" id="10"/>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3325" y="0"/>
            <a:ext cx="10734675" cy="6934200"/>
            <a:chOff x="0" y="0"/>
            <a:chExt cx="3111331" cy="2009804"/>
          </a:xfrm>
        </p:grpSpPr>
        <p:sp>
          <p:nvSpPr>
            <p:cNvPr name="Freeform 3" id="3"/>
            <p:cNvSpPr/>
            <p:nvPr/>
          </p:nvSpPr>
          <p:spPr>
            <a:xfrm flipH="false" flipV="false" rot="0">
              <a:off x="0" y="0"/>
              <a:ext cx="3111331" cy="2009804"/>
            </a:xfrm>
            <a:custGeom>
              <a:avLst/>
              <a:gdLst/>
              <a:ahLst/>
              <a:cxnLst/>
              <a:rect r="r" b="b" t="t" l="l"/>
              <a:pathLst>
                <a:path h="2009804" w="3111331">
                  <a:moveTo>
                    <a:pt x="0" y="0"/>
                  </a:moveTo>
                  <a:lnTo>
                    <a:pt x="3111331" y="0"/>
                  </a:lnTo>
                  <a:lnTo>
                    <a:pt x="3111331" y="2009804"/>
                  </a:lnTo>
                  <a:lnTo>
                    <a:pt x="0" y="2009804"/>
                  </a:lnTo>
                  <a:close/>
                </a:path>
              </a:pathLst>
            </a:custGeom>
            <a:blipFill>
              <a:blip r:embed="rId2"/>
              <a:stretch>
                <a:fillRect l="-74" t="0" r="-74" b="0"/>
              </a:stretch>
            </a:blipFill>
          </p:spPr>
        </p:sp>
      </p:grpSp>
      <p:sp>
        <p:nvSpPr>
          <p:cNvPr name="TextBox 4" id="4"/>
          <p:cNvSpPr txBox="true"/>
          <p:nvPr/>
        </p:nvSpPr>
        <p:spPr>
          <a:xfrm rot="0">
            <a:off x="666750" y="723900"/>
            <a:ext cx="4619625" cy="29857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1F2937"/>
                </a:solidFill>
                <a:latin typeface="Radley"/>
                <a:ea typeface="Radley"/>
                <a:cs typeface="Radley"/>
                <a:sym typeface="Radley"/>
              </a:rPr>
              <a:t>Seller Dashboard Overview</a:t>
            </a:r>
          </a:p>
        </p:txBody>
      </p:sp>
      <p:grpSp>
        <p:nvGrpSpPr>
          <p:cNvPr name="Group 5" id="5"/>
          <p:cNvGrpSpPr/>
          <p:nvPr/>
        </p:nvGrpSpPr>
        <p:grpSpPr>
          <a:xfrm rot="0">
            <a:off x="7553325" y="7829550"/>
            <a:ext cx="8476815" cy="1737361"/>
            <a:chOff x="0" y="0"/>
            <a:chExt cx="11302420" cy="2316482"/>
          </a:xfrm>
        </p:grpSpPr>
        <p:sp>
          <p:nvSpPr>
            <p:cNvPr name="TextBox 6" id="6"/>
            <p:cNvSpPr txBox="true"/>
            <p:nvPr/>
          </p:nvSpPr>
          <p:spPr>
            <a:xfrm rot="0">
              <a:off x="0" y="-66675"/>
              <a:ext cx="11302420" cy="817669"/>
            </a:xfrm>
            <a:prstGeom prst="rect">
              <a:avLst/>
            </a:prstGeom>
          </p:spPr>
          <p:txBody>
            <a:bodyPr anchor="t" rtlCol="false" tIns="0" lIns="0" bIns="0" rIns="0">
              <a:spAutoFit/>
            </a:bodyPr>
            <a:lstStyle/>
            <a:p>
              <a:pPr algn="l" marL="0" indent="0" lvl="0">
                <a:lnSpc>
                  <a:spcPts val="5179"/>
                </a:lnSpc>
                <a:spcBef>
                  <a:spcPct val="0"/>
                </a:spcBef>
              </a:pPr>
              <a:r>
                <a:rPr lang="en-US" sz="3699">
                  <a:solidFill>
                    <a:srgbClr val="1F2937"/>
                  </a:solidFill>
                  <a:latin typeface="Radley"/>
                  <a:ea typeface="Radley"/>
                  <a:cs typeface="Radley"/>
                  <a:sym typeface="Radley"/>
                </a:rPr>
                <a:t>Dashboard Features</a:t>
              </a:r>
            </a:p>
          </p:txBody>
        </p:sp>
        <p:sp>
          <p:nvSpPr>
            <p:cNvPr name="TextBox 7" id="7"/>
            <p:cNvSpPr txBox="true"/>
            <p:nvPr/>
          </p:nvSpPr>
          <p:spPr>
            <a:xfrm rot="0">
              <a:off x="0" y="906781"/>
              <a:ext cx="11302420" cy="1409701"/>
            </a:xfrm>
            <a:prstGeom prst="rect">
              <a:avLst/>
            </a:prstGeom>
          </p:spPr>
          <p:txBody>
            <a:bodyPr anchor="t" rtlCol="false" tIns="0" lIns="0" bIns="0" rIns="0">
              <a:spAutoFit/>
            </a:bodyPr>
            <a:lstStyle/>
            <a:p>
              <a:pPr algn="l" marL="0" indent="0" lvl="0">
                <a:lnSpc>
                  <a:spcPts val="4199"/>
                </a:lnSpc>
              </a:pPr>
              <a:r>
                <a:rPr lang="en-US" sz="2999">
                  <a:solidFill>
                    <a:srgbClr val="1F2937"/>
                  </a:solidFill>
                  <a:latin typeface="Carlito"/>
                  <a:ea typeface="Carlito"/>
                  <a:cs typeface="Carlito"/>
                  <a:sym typeface="Carlito"/>
                </a:rPr>
                <a:t>Manage products and analyze sales performance efficiently.</a:t>
              </a:r>
            </a:p>
          </p:txBody>
        </p:sp>
      </p:grpSp>
      <p:grpSp>
        <p:nvGrpSpPr>
          <p:cNvPr name="Group 8" id="8"/>
          <p:cNvGrpSpPr/>
          <p:nvPr/>
        </p:nvGrpSpPr>
        <p:grpSpPr>
          <a:xfrm rot="0">
            <a:off x="666750" y="9184102"/>
            <a:ext cx="2171730" cy="2205796"/>
            <a:chOff x="0" y="0"/>
            <a:chExt cx="812800" cy="825500"/>
          </a:xfrm>
        </p:grpSpPr>
        <p:sp>
          <p:nvSpPr>
            <p:cNvPr name="Freeform 9" id="9"/>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1F2937"/>
            </a:solidFill>
          </p:spPr>
        </p:sp>
        <p:sp>
          <p:nvSpPr>
            <p:cNvPr name="TextBox 10" id="10"/>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3325" y="0"/>
            <a:ext cx="10734675" cy="6934200"/>
            <a:chOff x="0" y="0"/>
            <a:chExt cx="3111331" cy="2009804"/>
          </a:xfrm>
        </p:grpSpPr>
        <p:sp>
          <p:nvSpPr>
            <p:cNvPr name="Freeform 3" id="3"/>
            <p:cNvSpPr/>
            <p:nvPr/>
          </p:nvSpPr>
          <p:spPr>
            <a:xfrm flipH="false" flipV="false" rot="0">
              <a:off x="0" y="0"/>
              <a:ext cx="3111331" cy="2009804"/>
            </a:xfrm>
            <a:custGeom>
              <a:avLst/>
              <a:gdLst/>
              <a:ahLst/>
              <a:cxnLst/>
              <a:rect r="r" b="b" t="t" l="l"/>
              <a:pathLst>
                <a:path h="2009804" w="3111331">
                  <a:moveTo>
                    <a:pt x="0" y="0"/>
                  </a:moveTo>
                  <a:lnTo>
                    <a:pt x="3111331" y="0"/>
                  </a:lnTo>
                  <a:lnTo>
                    <a:pt x="3111331" y="2009804"/>
                  </a:lnTo>
                  <a:lnTo>
                    <a:pt x="0" y="2009804"/>
                  </a:lnTo>
                  <a:close/>
                </a:path>
              </a:pathLst>
            </a:custGeom>
            <a:blipFill>
              <a:blip r:embed="rId2"/>
              <a:stretch>
                <a:fillRect l="-74" t="0" r="-74" b="0"/>
              </a:stretch>
            </a:blipFill>
          </p:spPr>
        </p:sp>
      </p:grpSp>
      <p:sp>
        <p:nvSpPr>
          <p:cNvPr name="TextBox 4" id="4"/>
          <p:cNvSpPr txBox="true"/>
          <p:nvPr/>
        </p:nvSpPr>
        <p:spPr>
          <a:xfrm rot="0">
            <a:off x="666750" y="723900"/>
            <a:ext cx="4619625" cy="29857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1F2937"/>
                </a:solidFill>
                <a:latin typeface="Radley"/>
                <a:ea typeface="Radley"/>
                <a:cs typeface="Radley"/>
                <a:sym typeface="Radley"/>
              </a:rPr>
              <a:t>Buyer Dashboard Features</a:t>
            </a:r>
          </a:p>
        </p:txBody>
      </p:sp>
      <p:grpSp>
        <p:nvGrpSpPr>
          <p:cNvPr name="Group 5" id="5"/>
          <p:cNvGrpSpPr/>
          <p:nvPr/>
        </p:nvGrpSpPr>
        <p:grpSpPr>
          <a:xfrm rot="0">
            <a:off x="7553325" y="7829550"/>
            <a:ext cx="8949526" cy="1236981"/>
            <a:chOff x="0" y="0"/>
            <a:chExt cx="11932701" cy="1649309"/>
          </a:xfrm>
        </p:grpSpPr>
        <p:sp>
          <p:nvSpPr>
            <p:cNvPr name="TextBox 6" id="6"/>
            <p:cNvSpPr txBox="true"/>
            <p:nvPr/>
          </p:nvSpPr>
          <p:spPr>
            <a:xfrm rot="0">
              <a:off x="0" y="-76200"/>
              <a:ext cx="11932701" cy="858521"/>
            </a:xfrm>
            <a:prstGeom prst="rect">
              <a:avLst/>
            </a:prstGeom>
          </p:spPr>
          <p:txBody>
            <a:bodyPr anchor="t" rtlCol="false" tIns="0" lIns="0" bIns="0" rIns="0">
              <a:spAutoFit/>
            </a:bodyPr>
            <a:lstStyle/>
            <a:p>
              <a:pPr algn="l" marL="0" indent="0" lvl="0">
                <a:lnSpc>
                  <a:spcPts val="5459"/>
                </a:lnSpc>
                <a:spcBef>
                  <a:spcPct val="0"/>
                </a:spcBef>
              </a:pPr>
              <a:r>
                <a:rPr lang="en-US" sz="3899">
                  <a:solidFill>
                    <a:srgbClr val="1F2937"/>
                  </a:solidFill>
                  <a:latin typeface="Radley"/>
                  <a:ea typeface="Radley"/>
                  <a:cs typeface="Radley"/>
                  <a:sym typeface="Radley"/>
                </a:rPr>
                <a:t>Key Components</a:t>
              </a:r>
            </a:p>
          </p:txBody>
        </p:sp>
        <p:sp>
          <p:nvSpPr>
            <p:cNvPr name="TextBox 7" id="7"/>
            <p:cNvSpPr txBox="true"/>
            <p:nvPr/>
          </p:nvSpPr>
          <p:spPr>
            <a:xfrm rot="0">
              <a:off x="0" y="938108"/>
              <a:ext cx="11932701" cy="711201"/>
            </a:xfrm>
            <a:prstGeom prst="rect">
              <a:avLst/>
            </a:prstGeom>
          </p:spPr>
          <p:txBody>
            <a:bodyPr anchor="t" rtlCol="false" tIns="0" lIns="0" bIns="0" rIns="0">
              <a:spAutoFit/>
            </a:bodyPr>
            <a:lstStyle/>
            <a:p>
              <a:pPr algn="l" marL="0" indent="0" lvl="0">
                <a:lnSpc>
                  <a:spcPts val="4199"/>
                </a:lnSpc>
              </a:pPr>
              <a:r>
                <a:rPr lang="en-US" sz="2999">
                  <a:solidFill>
                    <a:srgbClr val="1F2937"/>
                  </a:solidFill>
                  <a:latin typeface="Carlito"/>
                  <a:ea typeface="Carlito"/>
                  <a:cs typeface="Carlito"/>
                  <a:sym typeface="Carlito"/>
                </a:rPr>
                <a:t>Easy access to track purchases and preferences.</a:t>
              </a:r>
            </a:p>
          </p:txBody>
        </p:sp>
      </p:grpSp>
      <p:grpSp>
        <p:nvGrpSpPr>
          <p:cNvPr name="Group 8" id="8"/>
          <p:cNvGrpSpPr/>
          <p:nvPr/>
        </p:nvGrpSpPr>
        <p:grpSpPr>
          <a:xfrm rot="0">
            <a:off x="666750" y="9184102"/>
            <a:ext cx="2171730" cy="2205796"/>
            <a:chOff x="0" y="0"/>
            <a:chExt cx="812800" cy="825500"/>
          </a:xfrm>
        </p:grpSpPr>
        <p:sp>
          <p:nvSpPr>
            <p:cNvPr name="Freeform 9" id="9"/>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1F2937"/>
            </a:solidFill>
          </p:spPr>
        </p:sp>
        <p:sp>
          <p:nvSpPr>
            <p:cNvPr name="TextBox 10" id="10"/>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7553325" y="0"/>
            <a:ext cx="10734675" cy="6934200"/>
            <a:chOff x="0" y="0"/>
            <a:chExt cx="3111331" cy="2009804"/>
          </a:xfrm>
        </p:grpSpPr>
        <p:sp>
          <p:nvSpPr>
            <p:cNvPr name="Freeform 3" id="3"/>
            <p:cNvSpPr/>
            <p:nvPr/>
          </p:nvSpPr>
          <p:spPr>
            <a:xfrm flipH="false" flipV="false" rot="0">
              <a:off x="0" y="0"/>
              <a:ext cx="3111331" cy="2009804"/>
            </a:xfrm>
            <a:custGeom>
              <a:avLst/>
              <a:gdLst/>
              <a:ahLst/>
              <a:cxnLst/>
              <a:rect r="r" b="b" t="t" l="l"/>
              <a:pathLst>
                <a:path h="2009804" w="3111331">
                  <a:moveTo>
                    <a:pt x="0" y="0"/>
                  </a:moveTo>
                  <a:lnTo>
                    <a:pt x="3111331" y="0"/>
                  </a:lnTo>
                  <a:lnTo>
                    <a:pt x="3111331" y="2009804"/>
                  </a:lnTo>
                  <a:lnTo>
                    <a:pt x="0" y="2009804"/>
                  </a:lnTo>
                  <a:close/>
                </a:path>
              </a:pathLst>
            </a:custGeom>
            <a:blipFill>
              <a:blip r:embed="rId2"/>
              <a:stretch>
                <a:fillRect l="-74" t="0" r="-74" b="0"/>
              </a:stretch>
            </a:blipFill>
          </p:spPr>
        </p:sp>
      </p:grpSp>
      <p:sp>
        <p:nvSpPr>
          <p:cNvPr name="TextBox 4" id="4"/>
          <p:cNvSpPr txBox="true"/>
          <p:nvPr/>
        </p:nvSpPr>
        <p:spPr>
          <a:xfrm rot="0">
            <a:off x="666750" y="723900"/>
            <a:ext cx="4619625" cy="3782568"/>
          </a:xfrm>
          <a:prstGeom prst="rect">
            <a:avLst/>
          </a:prstGeom>
        </p:spPr>
        <p:txBody>
          <a:bodyPr anchor="t" rtlCol="false" tIns="0" lIns="0" bIns="0" rIns="0">
            <a:spAutoFit/>
          </a:bodyPr>
          <a:lstStyle/>
          <a:p>
            <a:pPr algn="l" marL="0" indent="0" lvl="0">
              <a:lnSpc>
                <a:spcPts val="7476"/>
              </a:lnSpc>
              <a:spcBef>
                <a:spcPct val="0"/>
              </a:spcBef>
            </a:pPr>
            <a:r>
              <a:rPr lang="en-US" sz="6675">
                <a:solidFill>
                  <a:srgbClr val="3B82F6"/>
                </a:solidFill>
                <a:latin typeface="Radley"/>
                <a:ea typeface="Radley"/>
                <a:cs typeface="Radley"/>
                <a:sym typeface="Radley"/>
              </a:rPr>
              <a:t>System Architecture and Data Flow</a:t>
            </a:r>
          </a:p>
        </p:txBody>
      </p:sp>
      <p:grpSp>
        <p:nvGrpSpPr>
          <p:cNvPr name="Group 5" id="5"/>
          <p:cNvGrpSpPr/>
          <p:nvPr/>
        </p:nvGrpSpPr>
        <p:grpSpPr>
          <a:xfrm rot="0">
            <a:off x="7553325" y="7829550"/>
            <a:ext cx="6428401" cy="1810387"/>
            <a:chOff x="0" y="0"/>
            <a:chExt cx="8571202" cy="2413849"/>
          </a:xfrm>
        </p:grpSpPr>
        <p:sp>
          <p:nvSpPr>
            <p:cNvPr name="TextBox 6" id="6"/>
            <p:cNvSpPr txBox="true"/>
            <p:nvPr/>
          </p:nvSpPr>
          <p:spPr>
            <a:xfrm rot="0">
              <a:off x="0" y="-76200"/>
              <a:ext cx="8571202" cy="924562"/>
            </a:xfrm>
            <a:prstGeom prst="rect">
              <a:avLst/>
            </a:prstGeom>
          </p:spPr>
          <p:txBody>
            <a:bodyPr anchor="t" rtlCol="false" tIns="0" lIns="0" bIns="0" rIns="0">
              <a:spAutoFit/>
            </a:bodyPr>
            <a:lstStyle/>
            <a:p>
              <a:pPr algn="l" marL="0" indent="0" lvl="0">
                <a:lnSpc>
                  <a:spcPts val="5879"/>
                </a:lnSpc>
                <a:spcBef>
                  <a:spcPct val="0"/>
                </a:spcBef>
              </a:pPr>
              <a:r>
                <a:rPr lang="en-US" sz="4199">
                  <a:solidFill>
                    <a:srgbClr val="3B82F6"/>
                  </a:solidFill>
                  <a:latin typeface="Radley"/>
                  <a:ea typeface="Radley"/>
                  <a:cs typeface="Radley"/>
                  <a:sym typeface="Radley"/>
                </a:rPr>
                <a:t>User Interaction</a:t>
              </a:r>
            </a:p>
          </p:txBody>
        </p:sp>
        <p:sp>
          <p:nvSpPr>
            <p:cNvPr name="TextBox 7" id="7"/>
            <p:cNvSpPr txBox="true"/>
            <p:nvPr/>
          </p:nvSpPr>
          <p:spPr>
            <a:xfrm rot="0">
              <a:off x="0" y="1004148"/>
              <a:ext cx="8571202" cy="1409701"/>
            </a:xfrm>
            <a:prstGeom prst="rect">
              <a:avLst/>
            </a:prstGeom>
          </p:spPr>
          <p:txBody>
            <a:bodyPr anchor="t" rtlCol="false" tIns="0" lIns="0" bIns="0" rIns="0">
              <a:spAutoFit/>
            </a:bodyPr>
            <a:lstStyle/>
            <a:p>
              <a:pPr algn="l" marL="0" indent="0" lvl="0">
                <a:lnSpc>
                  <a:spcPts val="4199"/>
                </a:lnSpc>
              </a:pPr>
              <a:r>
                <a:rPr lang="en-US" sz="2999">
                  <a:solidFill>
                    <a:srgbClr val="A78BFA"/>
                  </a:solidFill>
                  <a:latin typeface="Carlito"/>
                  <a:ea typeface="Carlito"/>
                  <a:cs typeface="Carlito"/>
                  <a:sym typeface="Carlito"/>
                </a:rPr>
                <a:t>Clear pathways connect users to backend support.</a:t>
              </a:r>
            </a:p>
          </p:txBody>
        </p:sp>
      </p:grpSp>
      <p:grpSp>
        <p:nvGrpSpPr>
          <p:cNvPr name="Group 8" id="8"/>
          <p:cNvGrpSpPr/>
          <p:nvPr/>
        </p:nvGrpSpPr>
        <p:grpSpPr>
          <a:xfrm rot="0">
            <a:off x="666750" y="9184102"/>
            <a:ext cx="2171730" cy="2205796"/>
            <a:chOff x="0" y="0"/>
            <a:chExt cx="812800" cy="825500"/>
          </a:xfrm>
        </p:grpSpPr>
        <p:sp>
          <p:nvSpPr>
            <p:cNvPr name="Freeform 9" id="9"/>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3B82F6"/>
            </a:solidFill>
          </p:spPr>
        </p:sp>
        <p:sp>
          <p:nvSpPr>
            <p:cNvPr name="TextBox 10" id="10"/>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51830" y="4357610"/>
            <a:ext cx="8324850" cy="2787322"/>
            <a:chOff x="0" y="0"/>
            <a:chExt cx="11099800" cy="3716429"/>
          </a:xfrm>
        </p:grpSpPr>
        <p:sp>
          <p:nvSpPr>
            <p:cNvPr name="TextBox 3" id="3"/>
            <p:cNvSpPr txBox="true"/>
            <p:nvPr/>
          </p:nvSpPr>
          <p:spPr>
            <a:xfrm rot="0">
              <a:off x="49111" y="2357951"/>
              <a:ext cx="11050689" cy="1358479"/>
            </a:xfrm>
            <a:prstGeom prst="rect">
              <a:avLst/>
            </a:prstGeom>
          </p:spPr>
          <p:txBody>
            <a:bodyPr anchor="t" rtlCol="false" tIns="0" lIns="0" bIns="0" rIns="0">
              <a:spAutoFit/>
            </a:bodyPr>
            <a:lstStyle/>
            <a:p>
              <a:pPr algn="l" marL="0" indent="0" lvl="0">
                <a:lnSpc>
                  <a:spcPts val="7840"/>
                </a:lnSpc>
              </a:pPr>
            </a:p>
          </p:txBody>
        </p:sp>
        <p:sp>
          <p:nvSpPr>
            <p:cNvPr name="TextBox 4" id="4"/>
            <p:cNvSpPr txBox="true"/>
            <p:nvPr/>
          </p:nvSpPr>
          <p:spPr>
            <a:xfrm rot="0">
              <a:off x="0" y="180975"/>
              <a:ext cx="11050689" cy="1663896"/>
            </a:xfrm>
            <a:prstGeom prst="rect">
              <a:avLst/>
            </a:prstGeom>
          </p:spPr>
          <p:txBody>
            <a:bodyPr anchor="t" rtlCol="false" tIns="0" lIns="0" bIns="0" rIns="0">
              <a:spAutoFit/>
            </a:bodyPr>
            <a:lstStyle/>
            <a:p>
              <a:pPr algn="l" marL="0" indent="0" lvl="0">
                <a:lnSpc>
                  <a:spcPts val="9099"/>
                </a:lnSpc>
              </a:pPr>
              <a:r>
                <a:rPr lang="en-US" sz="9099" i="true" u="none">
                  <a:solidFill>
                    <a:srgbClr val="1F2937"/>
                  </a:solidFill>
                  <a:latin typeface="Radley Italics"/>
                  <a:ea typeface="Radley Italics"/>
                  <a:cs typeface="Radley Italics"/>
                  <a:sym typeface="Radley Italics"/>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Online E-Commerce Platform</dc:description>
  <dc:identifier>DAG5cEQ5QMc</dc:identifier>
  <dcterms:modified xsi:type="dcterms:W3CDTF">2011-08-01T06:04:30Z</dcterms:modified>
  <cp:revision>1</cp:revision>
  <dc:title>Presentation - Online E-Commerce Platform</dc:title>
</cp:coreProperties>
</file>